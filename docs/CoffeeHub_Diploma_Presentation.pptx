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800"/>
            <a:ext cx="12191695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74"/>
                </a:solidFill>
              </a:defRPr>
            </a:pPr>
            <a:r>
              <a:t>DIPLOMA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Development of a Multi-Branch</a:t>
            </a:r>
            <a:br/>
            <a:r>
              <a:t>Coffee Shop Management</a:t>
            </a:r>
            <a:br/>
            <a:r>
              <a:t>Web Application Using Spring Boot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114800"/>
            <a:ext cx="2103120" cy="3810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AA99"/>
                </a:solidFill>
              </a:defRPr>
            </a:pPr>
            <a:r>
              <a:t>Student: Diana Mamytova  |  Group: COM22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AA99"/>
                </a:solidFill>
              </a:defRPr>
            </a:pPr>
            <a:r>
              <a:t>Adviser: Nargiza Zhumalieva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BBAA99"/>
                </a:solidFill>
              </a:defRPr>
            </a:pPr>
            <a:r>
              <a:t>The hospitality industry is undergoing rapid digital transformation.</a:t>
            </a:r>
          </a:p>
          <a:p>
            <a:pPr>
              <a:spcAft>
                <a:spcPts val="800"/>
              </a:spcAft>
              <a:defRPr sz="2000">
                <a:solidFill>
                  <a:srgbClr val="BBAA99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BBAA99"/>
                </a:solidFill>
              </a:defRPr>
            </a:pPr>
            <a:r>
              <a:t>Multi-branch coffee shops require centralized, scalable, and secure</a:t>
            </a:r>
          </a:p>
          <a:p>
            <a:pPr>
              <a:spcAft>
                <a:spcPts val="800"/>
              </a:spcAft>
              <a:defRPr sz="2000">
                <a:solidFill>
                  <a:srgbClr val="BBAA99"/>
                </a:solidFill>
              </a:defRPr>
            </a:pPr>
            <a:r>
              <a:t>management systems for operations.</a:t>
            </a:r>
          </a:p>
          <a:p>
            <a:pPr>
              <a:spcAft>
                <a:spcPts val="800"/>
              </a:spcAft>
              <a:defRPr sz="2000">
                <a:solidFill>
                  <a:srgbClr val="BBAA99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BBAA99"/>
                </a:solidFill>
              </a:defRPr>
            </a:pPr>
            <a:r>
              <a:t>This project proposes a production-ready web solution for digital</a:t>
            </a:r>
          </a:p>
          <a:p>
            <a:pPr>
              <a:spcAft>
                <a:spcPts val="800"/>
              </a:spcAft>
              <a:defRPr sz="2000">
                <a:solidFill>
                  <a:srgbClr val="BBAA99"/>
                </a:solidFill>
              </a:defRPr>
            </a:pPr>
            <a:r>
              <a:t>reservation management, menu administration, and business analytics.</a:t>
            </a:r>
          </a:p>
          <a:p>
            <a:pPr>
              <a:spcAft>
                <a:spcPts val="800"/>
              </a:spcAft>
              <a:defRPr sz="2000">
                <a:solidFill>
                  <a:srgbClr val="BBAA99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BBAA99"/>
                </a:solidFill>
              </a:defRPr>
            </a:pPr>
            <a:r>
              <a:t>Built with modern technologies: Java Spring Boot, React, PostgreSQL.</a:t>
            </a:r>
          </a:p>
          <a:p>
            <a:pPr>
              <a:spcAft>
                <a:spcPts val="800"/>
              </a:spcAft>
              <a:defRPr sz="2000">
                <a:solidFill>
                  <a:srgbClr val="BBAA99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BBAA99"/>
                </a:solidFill>
              </a:defRPr>
            </a:pPr>
            <a:r>
              <a:t>Deployed at: https://coffee-shop-diana.com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99"/>
                </a:solidFill>
              </a:defRPr>
            </a:pPr>
            <a:r>
              <a:t>Many coffee shops still rely on manual processes for reservations and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058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7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4027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Reservation conflicts and overlapping bookings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39"/>
            <a:ext cx="10058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5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5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Lack of centralized branch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058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3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</a:defRPr>
            </a:pPr>
            <a: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3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Limited data analytics for decision making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058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</a:defRPr>
            </a:pPr>
            <a: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60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No integrated QR-based ecosystem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10058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</a:defRPr>
            </a:pPr>
            <a: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00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Poor customer interaction and feedback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Research and Market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</a:defRPr>
            </a:pPr>
            <a:r>
              <a:t>Existing Systems Analyzed: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45720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OpenTable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45720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Toast POS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45720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Square for Restaurants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</a:defRPr>
            </a:pPr>
            <a:r>
              <a:t>Key Observations: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50292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057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High subscription costs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51760"/>
            <a:ext cx="50292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697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Limited customization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91840"/>
            <a:ext cx="50292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337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SaaS dependency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931920"/>
            <a:ext cx="50292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977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Restricted data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Identified 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99"/>
                </a:solidFill>
              </a:defRPr>
            </a:pPr>
            <a:r>
              <a:t>There is no lightweight, fully customizable, production-ready web application</a:t>
            </a:r>
            <a:br/>
            <a:r>
              <a:t>designed specifically for multi-branch coffee shops that: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</a:defRPr>
            </a:pPr>
            <a: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560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Provides centralized control with branch-level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</a:defRPr>
            </a:pPr>
            <a: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17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Implements a customizable anti-overlap reservation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</a:defRPr>
            </a:pPr>
            <a: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Integrates QR services into a single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</a:defRPr>
            </a:pPr>
            <a: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Supports role-based access control with multiple administrative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</a:defRPr>
            </a:pPr>
            <a: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Ensures full data ownership and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Is scalable and deployable using modern DevOps practices (Docker, CI/CD)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Project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64592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AA99"/>
                </a:solidFill>
              </a:defRPr>
            </a:pPr>
            <a:r>
              <a:t>To design and develop a full-stack web application that: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058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7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574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4027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Supports multiple coffee shop branches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058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3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574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3463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Provides secure authentication (JWT + Google OAuth2)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79"/>
            <a:ext cx="10058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899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574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42899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Prevents reservation conflicts with anti-overlap algorithm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10058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574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Includes analytics and statistics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10058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574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17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Integrates QR-based functionality for customer access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66360"/>
            <a:ext cx="10058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574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Uses modern production-ready architecture with Docker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5720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Java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Spring Boot 3.4.1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Spring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39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(JWT + OAuth2)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5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Spring Data JPA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Hibernate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463040"/>
            <a:ext cx="2560320" cy="45720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React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59" y="24688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JavaScript (ES6+)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59" y="28346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Axios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59" y="320039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Chart.js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59" y="356615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React Router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1463040"/>
            <a:ext cx="2560320" cy="45720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PostgreSQL 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463040"/>
            <a:ext cx="2560320" cy="45720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59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DevOps &amp;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4688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Nginx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8346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Let's Encrypt SSL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20039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Swagger (OpenAPI)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56615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Cloudflare DNS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Architecture Type: Layered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640080"/>
          </a:xfrm>
          <a:prstGeom prst="roundRect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Controller Layer —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AA99"/>
                </a:solidFill>
              </a:defRPr>
            </a:pPr>
            <a:r>
              <a:t>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5029200" cy="640080"/>
          </a:xfrm>
          <a:prstGeom prst="roundRect">
            <a:avLst/>
          </a:prstGeom>
          <a:solidFill>
            <a:srgbClr val="8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Service Layer — Business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AA99"/>
                </a:solidFill>
              </a:defRPr>
            </a:pPr>
            <a: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40"/>
            <a:ext cx="5029200" cy="640080"/>
          </a:xfrm>
          <a:prstGeom prst="roundRect">
            <a:avLst/>
          </a:prstGeom>
          <a:solidFill>
            <a:srgbClr val="A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Repository Layer — Database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Key Features: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5029200" cy="4572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Stateless authentication (JWT)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560320"/>
            <a:ext cx="5029200" cy="4572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Role-based access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108960"/>
            <a:ext cx="5029200" cy="4572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REST communication (JSON)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57600"/>
            <a:ext cx="5029200" cy="4572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Dockerized deployment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206240"/>
            <a:ext cx="5029200" cy="4572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2519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SSL/HTTPS encryption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User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745"/>
                </a:solidFill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Register and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View menu and branches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Book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Leave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View personal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38328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</a:defRPr>
            </a:pPr>
            <a: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Manage tables and menu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Approve/cancel reservations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CRUD menu &amp;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37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Moderate reviews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749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View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371600"/>
            <a:ext cx="3383280" cy="50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3545"/>
                </a:solidFill>
              </a:defRPr>
            </a:pPr>
            <a:r>
              <a:t>SUPERADMIN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Manage branches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Manage administrators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System-level configuration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337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All admin permissions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Core Functional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14630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Authentication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63040"/>
            <a:ext cx="2560320" cy="14630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7560" y="1463040"/>
            <a:ext cx="25603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Multi-Branch</a:t>
            </a:r>
            <a:br/>
            <a:r>
              <a:t>Management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463040"/>
            <a:ext cx="2560320" cy="14630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79" y="1463040"/>
            <a:ext cx="256032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Reservation Engine</a:t>
            </a:r>
            <a:br/>
            <a:r>
              <a:t>(anti-overlap)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463040"/>
            <a:ext cx="2560320" cy="14630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15400" y="1463040"/>
            <a:ext cx="256032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Menu &amp; Category</a:t>
            </a:r>
            <a:br/>
            <a:r>
              <a:t>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2560320" cy="14630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291840"/>
            <a:ext cx="2560320" cy="508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Review and Rating</a:t>
            </a:r>
            <a:br/>
            <a:r>
              <a:t>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291840"/>
            <a:ext cx="2560320" cy="14630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3291840"/>
            <a:ext cx="256032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6576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Analytics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3291840"/>
            <a:ext cx="2560320" cy="14630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79" y="3291840"/>
            <a:ext cx="25603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36576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QR Ecosystem Module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3291840"/>
            <a:ext cx="2560320" cy="14630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3291840"/>
            <a:ext cx="2560320" cy="508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36576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File Upload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Reservation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91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Time-slot validation with date and time range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5156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</a:defRPr>
            </a:pPr>
            <a: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Prevention of overlapping reservations (anti-overlap SQL query)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5156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Guest count vs table capacity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5156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</a:defRPr>
            </a:pPr>
            <a: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11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Reservation editing and cancellation by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105156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</a:defRPr>
            </a:pPr>
            <a:r>
              <a:t>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51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Administrator confirmation workflow (PENDING → CONFIRMED)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105156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</a:defRPr>
            </a:pPr>
            <a:r>
              <a:t>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92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Status management: PENDING | CONFIRMED | CANCELLED | 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This ensures operational reliability and fairness.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QR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32004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920240"/>
            <a:ext cx="1371600" cy="13716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QR code for each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AA99"/>
                </a:solidFill>
              </a:defRPr>
            </a:pPr>
            <a:r>
              <a:t>Direct menu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45920"/>
            <a:ext cx="2651760" cy="32004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7639" y="1920240"/>
            <a:ext cx="1371600" cy="13716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2194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QR code for each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AA99"/>
                </a:solidFill>
              </a:defRPr>
            </a:pPr>
            <a:r>
              <a:t>Branch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651760" cy="32004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1920240"/>
            <a:ext cx="1371600" cy="13716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194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QR code for campaigns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AA99"/>
                </a:solidFill>
              </a:defRPr>
            </a:pPr>
            <a:r>
              <a:t>Promotional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645920"/>
            <a:ext cx="2651760" cy="32004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38359" y="1920240"/>
            <a:ext cx="1371600" cy="13716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2194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QR-based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AA99"/>
                </a:solidFill>
              </a:defRPr>
            </a:pPr>
            <a:r>
              <a:t>Customer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Improves customer experience and reduces operational friction.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Database Design (ER Concept)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286000" cy="11887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286000" cy="381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8A745"/>
                </a:solidFill>
              </a:defRPr>
            </a:pPr>
            <a:r>
              <a:t>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463040"/>
            <a:ext cx="2286000" cy="11887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463040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</a:defRPr>
            </a:pPr>
            <a:r>
              <a:t>Branch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2286000" cy="11887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463040"/>
            <a:ext cx="228600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463040"/>
            <a:ext cx="2286000" cy="11887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0" y="1463040"/>
            <a:ext cx="228600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C4899"/>
                </a:solidFill>
              </a:defRPr>
            </a:pPr>
            <a:r>
              <a:t>Reservation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108960"/>
            <a:ext cx="2286000" cy="11887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3108960"/>
            <a:ext cx="2286000" cy="381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7A2B8"/>
                </a:solidFill>
              </a:defRPr>
            </a:pPr>
            <a:r>
              <a:t>Category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108960"/>
            <a:ext cx="2286000" cy="11887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10896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MenuItem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108960"/>
            <a:ext cx="2286000" cy="11887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0" y="3108960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Relationships: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99"/>
                </a:solidFill>
              </a:defRPr>
            </a:pPr>
            <a:r>
              <a:t>Branch has many Tables  |  Branch has many MenuItems  |  User creates Reservations  |  User writes Reviews  |  Reservation belongs to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Analytics and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Daily reservation statistics per branch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486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Branch performance comparison (confirmed vs cancelled)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5486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Reservation trends over time (line charts)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5486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Rating distribution analysis (5-star breakdown)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5486400" cy="50292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Graph-based data visualization using Chart.js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1645920"/>
            <a:ext cx="4389120" cy="36576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3017520"/>
            <a:ext cx="548640" cy="182880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1920239"/>
            <a:ext cx="548640" cy="292608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0" y="3474720"/>
            <a:ext cx="548640" cy="1371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46920" y="1371600"/>
            <a:ext cx="548640" cy="34747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424160" y="2286000"/>
            <a:ext cx="548640" cy="2560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Supports data-driven decision-making.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Authentication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JWT Token Authentication: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1. User submits credentials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2. Server validates &amp; generates JWT (HS256)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3. Token stored in localStorage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4. Axios attaches Bearer token to all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5. Server validates token on each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Google OAuth2 Flow: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1. Click 'Sign in with Google'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2. Redirect to Google 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3. Google callback with auth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4. Server exchanges code for user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5. JWT generated, redirect to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Security Features: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2011680" cy="4572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73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BCrypt password hashing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4846320"/>
            <a:ext cx="2011680" cy="4572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4873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CORS protection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4846320"/>
            <a:ext cx="2011680" cy="4572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873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CSRF disabled (stateless)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4846320"/>
            <a:ext cx="2011680" cy="4572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79" y="4873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HTTPS/SSL encryption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4846320"/>
            <a:ext cx="2011680" cy="4572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19" y="4873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Role-based access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REST API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99"/>
                </a:solidFill>
              </a:defRPr>
            </a:pPr>
            <a:r>
              <a:t>46 RESTful API endpoints across 10 controllers: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59436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</a:defRPr>
            </a:pPr>
            <a: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57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</a:defRPr>
            </a:pPr>
            <a:r>
              <a:t>3 endpoints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AA99"/>
                </a:solidFill>
              </a:defRPr>
            </a:pPr>
            <a:r>
              <a:t>Register, Login, 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5029200" cy="59436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</a:defRPr>
            </a:pPr>
            <a:r>
              <a:t>Branches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88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</a:defRPr>
            </a:pPr>
            <a:r>
              <a:t>5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AA99"/>
                </a:solidFill>
              </a:defRPr>
            </a:pPr>
            <a:r>
              <a:t>CRUD + listing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029200" cy="59436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</a:defRPr>
            </a:pPr>
            <a:r>
              <a:t>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</a:defRPr>
            </a:pPr>
            <a:r>
              <a:t>5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AA99"/>
                </a:solidFill>
              </a:defRPr>
            </a:pPr>
            <a:r>
              <a:t>CRUD + availability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5029200" cy="59436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</a:defRPr>
            </a:pPr>
            <a:r>
              <a:t>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51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</a:defRPr>
            </a:pPr>
            <a:r>
              <a:t>6 endpoints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AA99"/>
                </a:solidFill>
              </a:defRPr>
            </a:pPr>
            <a:r>
              <a:t>CRUD + by branch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5029200" cy="59436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</a:defRPr>
            </a:pPr>
            <a:r>
              <a:t>Menu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</a:defRPr>
            </a:pPr>
            <a:r>
              <a:t>7 endpoints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AA99"/>
                </a:solidFill>
              </a:defRPr>
            </a:pPr>
            <a:r>
              <a:t>CRUD + filtering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011680"/>
            <a:ext cx="5029200" cy="59436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</a:defRPr>
            </a:pPr>
            <a:r>
              <a:t>Reservations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057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</a:defRPr>
            </a:pPr>
            <a:r>
              <a:t>7 endpoints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AA99"/>
                </a:solidFill>
              </a:defRPr>
            </a:pPr>
            <a:r>
              <a:t>Create, status, cancel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743200"/>
            <a:ext cx="5029200" cy="59436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</a:defRPr>
            </a:pPr>
            <a:r>
              <a:t>Reviews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788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</a:defRPr>
            </a:pPr>
            <a:r>
              <a:t>6 endpoints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AA99"/>
                </a:solidFill>
              </a:defRPr>
            </a:pPr>
            <a:r>
              <a:t>Submit, moderate, list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474720"/>
            <a:ext cx="5029200" cy="59436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</a:defRPr>
            </a:pPr>
            <a:r>
              <a:t>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</a:defRPr>
            </a:pPr>
            <a:r>
              <a:t>2 endpoints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AA99"/>
                </a:solidFill>
              </a:defRPr>
            </a:pPr>
            <a:r>
              <a:t>Branch stats, daily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206240"/>
            <a:ext cx="5029200" cy="59436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</a:defRPr>
            </a:pPr>
            <a:r>
              <a:t>QR Codes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251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</a:defRPr>
            </a:pPr>
            <a:r>
              <a:t>3 endpoints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AA99"/>
                </a:solidFill>
              </a:defRPr>
            </a:pPr>
            <a:r>
              <a:t>Table, branch, review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937760"/>
            <a:ext cx="5029200" cy="59436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</a:defRPr>
            </a:pPr>
            <a:r>
              <a:t>File Upload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</a:defRPr>
            </a:pPr>
            <a:r>
              <a:t>2 endpoints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AA99"/>
                </a:solidFill>
              </a:defRPr>
            </a:pPr>
            <a:r>
              <a:t>Upload, serve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Deployment &amp; DevOps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45720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50800"/>
          </a:xfrm>
          <a:prstGeom prst="rect">
            <a:avLst/>
          </a:prstGeom>
          <a:solidFill>
            <a:srgbClr val="00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E6"/>
                </a:solidFill>
              </a:defRPr>
            </a:pPr>
            <a:r>
              <a:t>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3 containers: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PostgreSQL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Spring Boot (JDK 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Nginx + React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99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22959" y="3794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docker-compose.yml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463040"/>
            <a:ext cx="3474720" cy="45720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463040"/>
            <a:ext cx="347472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745"/>
                </a:solidFill>
              </a:defRPr>
            </a:pPr>
            <a:r>
              <a:t>SSL &amp; DNS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Let's Encrypt SSL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Auto-renewal (Certbot)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99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571999" y="3154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Cloudflare DNS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Domain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3794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DDoS 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99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1999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HTTPS everywhere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1463040"/>
            <a:ext cx="3474720" cy="45720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1463040"/>
            <a:ext cx="347472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</a:defRPr>
            </a:pPr>
            <a: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VPS: Ubuntu 24.04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RAM: 8 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SSD: 145 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154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99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8321040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Domain: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94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coffee-shop-diana.com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99"/>
                </a:solidFill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8321040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Nginx reverse proxy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Value Proposition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</a:defRPr>
            </a:pPr>
            <a:r>
              <a:t>For Coffee Shop Owners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Full control over business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Elimination of reservation conflicts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Centralized management of multiple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Cost-effective alternative to SaaS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Data-driven decisions through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02920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745"/>
                </a:solidFill>
              </a:defRPr>
            </a:pPr>
            <a:r>
              <a:t>For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Convenient online booking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Transparent menu with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Fast QR-based access to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Reliable booking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Easy review submission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5486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190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Online payment integration (Stripe, PayPal)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515600" cy="5486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048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AI-based demand prediction for optimal staffing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515600" cy="5486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906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Customer recommendation system based on order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10515600" cy="5486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764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Mobile application version (React Native / Flutter)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10515600" cy="5486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622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Cloud deployment with auto-scaling (AWS / GCP)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10515600" cy="548640"/>
          </a:xfrm>
          <a:prstGeom prst="round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480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1480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Email/SMS notifications for reservation confirmations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3200400"/>
            <a:ext cx="2103120" cy="3810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574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AA99"/>
                </a:solidFill>
              </a:defRPr>
            </a:pPr>
            <a:r>
              <a:t>Live Demo: https://coffee-shop-diana.com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AA99"/>
                </a:solidFill>
              </a:defRPr>
            </a:pPr>
            <a:r>
              <a:t>Diana Mamytova  |  COM22  |  Ala-Too International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AA99"/>
                </a:solidFill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